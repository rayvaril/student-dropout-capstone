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Semi-Bold" charset="1" panose="00000700000000000000"/>
      <p:regular r:id="rId16"/>
    </p:embeddedFont>
    <p:embeddedFont>
      <p:font typeface="DM Sans Bold" charset="1" panose="00000000000000000000"/>
      <p:regular r:id="rId17"/>
    </p:embeddedFont>
    <p:embeddedFont>
      <p:font typeface="Raleway Italics" charset="1" panose="00000000000000000000"/>
      <p:regular r:id="rId18"/>
    </p:embeddedFont>
    <p:embeddedFont>
      <p:font typeface="Montserrat Heavy" charset="1" panose="00000A00000000000000"/>
      <p:regular r:id="rId19"/>
    </p:embeddedFont>
    <p:embeddedFont>
      <p:font typeface="Mokoto" charset="1" panose="00000000000000000000"/>
      <p:regular r:id="rId20"/>
    </p:embeddedFont>
    <p:embeddedFont>
      <p:font typeface="Raleway" charset="1" panose="00000000000000000000"/>
      <p:regular r:id="rId21"/>
    </p:embeddedFont>
    <p:embeddedFont>
      <p:font typeface="Raleway Bold Italics" charset="1" panose="00000000000000000000"/>
      <p:regular r:id="rId22"/>
    </p:embeddedFont>
    <p:embeddedFont>
      <p:font typeface="Montserrat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6543" y="3123708"/>
            <a:ext cx="10231853" cy="192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776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Catching </a:t>
            </a:r>
          </a:p>
          <a:p>
            <a:pPr algn="l">
              <a:lnSpc>
                <a:spcPts val="7375"/>
              </a:lnSpc>
            </a:pPr>
            <a:r>
              <a:rPr lang="en-US" sz="776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6543" y="8633889"/>
            <a:ext cx="2493294" cy="30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Raymond Varilla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6543" y="6765736"/>
            <a:ext cx="11813150" cy="181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3682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 two-stage early-warning approach for more timely and targeted student support</a:t>
            </a:r>
          </a:p>
          <a:p>
            <a:pPr algn="l">
              <a:lnSpc>
                <a:spcPts val="3497"/>
              </a:lnSpc>
            </a:pPr>
          </a:p>
          <a:p>
            <a:pPr algn="l">
              <a:lnSpc>
                <a:spcPts val="349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76543" y="4131993"/>
            <a:ext cx="11813150" cy="100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0"/>
              </a:lnSpc>
            </a:pPr>
            <a:r>
              <a:rPr lang="en-US" sz="7863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Student Dropout Risk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8443" y="5275510"/>
            <a:ext cx="10231853" cy="192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776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Earlier </a:t>
            </a:r>
          </a:p>
          <a:p>
            <a:pPr algn="l">
              <a:lnSpc>
                <a:spcPts val="7375"/>
              </a:lnSpc>
            </a:pPr>
            <a:r>
              <a:rPr lang="en-US" sz="776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6543" y="9121556"/>
            <a:ext cx="8300024" cy="116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Student Attrition Capstone | Business Presentation | </a:t>
            </a:r>
          </a:p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AI-ML PGD</a:t>
            </a:r>
          </a:p>
          <a:p>
            <a:pPr algn="l">
              <a:lnSpc>
                <a:spcPts val="2267"/>
              </a:lnSpc>
            </a:pPr>
          </a:p>
          <a:p>
            <a:pPr algn="l">
              <a:lnSpc>
                <a:spcPts val="226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90338" y="5271410"/>
            <a:ext cx="2722116" cy="625662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84830" y="5271410"/>
            <a:ext cx="2722116" cy="625662"/>
            <a:chOff x="0" y="0"/>
            <a:chExt cx="1768157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08312" y="5271410"/>
            <a:ext cx="4021771" cy="625662"/>
            <a:chOff x="0" y="0"/>
            <a:chExt cx="2612351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12351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307637" y="2814241"/>
            <a:ext cx="2087519" cy="2066644"/>
          </a:xfrm>
          <a:custGeom>
            <a:avLst/>
            <a:gdLst/>
            <a:ahLst/>
            <a:cxnLst/>
            <a:rect r="r" b="b" t="t" l="l"/>
            <a:pathLst>
              <a:path h="2066644" w="2087519">
                <a:moveTo>
                  <a:pt x="0" y="0"/>
                </a:moveTo>
                <a:lnTo>
                  <a:pt x="2087519" y="0"/>
                </a:lnTo>
                <a:lnTo>
                  <a:pt x="2087519" y="2066644"/>
                </a:lnTo>
                <a:lnTo>
                  <a:pt x="0" y="2066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03423" y="2757582"/>
            <a:ext cx="2266178" cy="2266178"/>
          </a:xfrm>
          <a:custGeom>
            <a:avLst/>
            <a:gdLst/>
            <a:ahLst/>
            <a:cxnLst/>
            <a:rect r="r" b="b" t="t" l="l"/>
            <a:pathLst>
              <a:path h="2266178" w="2266178">
                <a:moveTo>
                  <a:pt x="0" y="0"/>
                </a:moveTo>
                <a:lnTo>
                  <a:pt x="2266178" y="0"/>
                </a:lnTo>
                <a:lnTo>
                  <a:pt x="2266178" y="2266178"/>
                </a:lnTo>
                <a:lnTo>
                  <a:pt x="0" y="2266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35468" y="2715245"/>
            <a:ext cx="2350851" cy="2350851"/>
          </a:xfrm>
          <a:custGeom>
            <a:avLst/>
            <a:gdLst/>
            <a:ahLst/>
            <a:cxnLst/>
            <a:rect r="r" b="b" t="t" l="l"/>
            <a:pathLst>
              <a:path h="2350851" w="2350851">
                <a:moveTo>
                  <a:pt x="0" y="0"/>
                </a:moveTo>
                <a:lnTo>
                  <a:pt x="2350851" y="0"/>
                </a:lnTo>
                <a:lnTo>
                  <a:pt x="2350851" y="2350851"/>
                </a:lnTo>
                <a:lnTo>
                  <a:pt x="0" y="2350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5575" y="8373734"/>
            <a:ext cx="1438521" cy="1653473"/>
          </a:xfrm>
          <a:custGeom>
            <a:avLst/>
            <a:gdLst/>
            <a:ahLst/>
            <a:cxnLst/>
            <a:rect r="r" b="b" t="t" l="l"/>
            <a:pathLst>
              <a:path h="1653473" w="1438521">
                <a:moveTo>
                  <a:pt x="0" y="0"/>
                </a:moveTo>
                <a:lnTo>
                  <a:pt x="1438521" y="0"/>
                </a:lnTo>
                <a:lnTo>
                  <a:pt x="1438521" y="1653473"/>
                </a:lnTo>
                <a:lnTo>
                  <a:pt x="0" y="16534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9724" y="1218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90987" y="1241691"/>
            <a:ext cx="13183276" cy="24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408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challenge is identifying who needs support early enough</a:t>
            </a:r>
          </a:p>
          <a:p>
            <a:pPr algn="ctr">
              <a:lnSpc>
                <a:spcPts val="5666"/>
              </a:lnSpc>
            </a:pPr>
          </a:p>
          <a:p>
            <a:pPr algn="ctr">
              <a:lnSpc>
                <a:spcPts val="526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112372" y="5461825"/>
            <a:ext cx="2478048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TIMING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74096" y="6106621"/>
            <a:ext cx="4513663" cy="120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2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Enrollment gives the earliest opportunity to intervene, but with less behavioral evidence.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06864" y="5461825"/>
            <a:ext cx="2478048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CAPACITY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34572" y="6116146"/>
            <a:ext cx="4673102" cy="15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Student-support resources are limited, so not every student can receive the same level of intervention.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57464" y="5461825"/>
            <a:ext cx="3684870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TARGETING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77809" y="6116146"/>
            <a:ext cx="4267295" cy="15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Too many false alerts waste support capacity; missed cases mean students at risk may not receive help.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0268" y="8885111"/>
            <a:ext cx="15241709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Catch more students who will drop out, reach them earlier, and reduce unnecessary interventions</a:t>
            </a:r>
          </a:p>
          <a:p>
            <a:pPr algn="ctr">
              <a:lnSpc>
                <a:spcPts val="2580"/>
              </a:lnSpc>
            </a:pPr>
            <a:r>
              <a:rPr lang="en-US" b="true" sz="20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*** The goal is to prioritize support—not automate decisions about students..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91253" y="8421359"/>
            <a:ext cx="4982744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SUCCESS LOOKS LIKE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25294">
            <a:off x="-4706113" y="875424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19534">
            <a:off x="-3351332" y="-5155227"/>
            <a:ext cx="21645066" cy="7900449"/>
          </a:xfrm>
          <a:custGeom>
            <a:avLst/>
            <a:gdLst/>
            <a:ahLst/>
            <a:cxnLst/>
            <a:rect r="r" b="b" t="t" l="l"/>
            <a:pathLst>
              <a:path h="7900449" w="21645066">
                <a:moveTo>
                  <a:pt x="0" y="7900449"/>
                </a:moveTo>
                <a:lnTo>
                  <a:pt x="21645066" y="7900449"/>
                </a:lnTo>
                <a:lnTo>
                  <a:pt x="21645066" y="0"/>
                </a:lnTo>
                <a:lnTo>
                  <a:pt x="0" y="0"/>
                </a:lnTo>
                <a:lnTo>
                  <a:pt x="0" y="7900449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9363" y="3950447"/>
            <a:ext cx="5473965" cy="4297063"/>
          </a:xfrm>
          <a:custGeom>
            <a:avLst/>
            <a:gdLst/>
            <a:ahLst/>
            <a:cxnLst/>
            <a:rect r="r" b="b" t="t" l="l"/>
            <a:pathLst>
              <a:path h="4297063" w="5473965">
                <a:moveTo>
                  <a:pt x="0" y="0"/>
                </a:moveTo>
                <a:lnTo>
                  <a:pt x="5473965" y="0"/>
                </a:lnTo>
                <a:lnTo>
                  <a:pt x="5473965" y="4297063"/>
                </a:lnTo>
                <a:lnTo>
                  <a:pt x="0" y="429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85338" y="2510175"/>
            <a:ext cx="3958823" cy="625662"/>
            <a:chOff x="0" y="0"/>
            <a:chExt cx="2571463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1463" cy="406400"/>
            </a:xfrm>
            <a:custGeom>
              <a:avLst/>
              <a:gdLst/>
              <a:ahLst/>
              <a:cxnLst/>
              <a:rect r="r" b="b" t="t" l="l"/>
              <a:pathLst>
                <a:path h="406400" w="2571463">
                  <a:moveTo>
                    <a:pt x="2368263" y="0"/>
                  </a:moveTo>
                  <a:cubicBezTo>
                    <a:pt x="2480487" y="0"/>
                    <a:pt x="2571463" y="90976"/>
                    <a:pt x="2571463" y="203200"/>
                  </a:cubicBezTo>
                  <a:cubicBezTo>
                    <a:pt x="2571463" y="315424"/>
                    <a:pt x="2480487" y="406400"/>
                    <a:pt x="236826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7146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30000" y="4102847"/>
            <a:ext cx="5473965" cy="4297063"/>
          </a:xfrm>
          <a:custGeom>
            <a:avLst/>
            <a:gdLst/>
            <a:ahLst/>
            <a:cxnLst/>
            <a:rect r="r" b="b" t="t" l="l"/>
            <a:pathLst>
              <a:path h="4297063" w="5473965">
                <a:moveTo>
                  <a:pt x="0" y="0"/>
                </a:moveTo>
                <a:lnTo>
                  <a:pt x="5473965" y="0"/>
                </a:lnTo>
                <a:lnTo>
                  <a:pt x="5473965" y="4297063"/>
                </a:lnTo>
                <a:lnTo>
                  <a:pt x="0" y="429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525975" y="2662575"/>
            <a:ext cx="3977665" cy="625662"/>
            <a:chOff x="0" y="0"/>
            <a:chExt cx="258370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3702" cy="406400"/>
            </a:xfrm>
            <a:custGeom>
              <a:avLst/>
              <a:gdLst/>
              <a:ahLst/>
              <a:cxnLst/>
              <a:rect r="r" b="b" t="t" l="l"/>
              <a:pathLst>
                <a:path h="406400" w="2583702">
                  <a:moveTo>
                    <a:pt x="2380502" y="0"/>
                  </a:moveTo>
                  <a:cubicBezTo>
                    <a:pt x="2492726" y="0"/>
                    <a:pt x="2583702" y="90976"/>
                    <a:pt x="2583702" y="203200"/>
                  </a:cubicBezTo>
                  <a:cubicBezTo>
                    <a:pt x="2583702" y="315424"/>
                    <a:pt x="2492726" y="406400"/>
                    <a:pt x="23805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8370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39623" y="2805364"/>
            <a:ext cx="4214082" cy="4928751"/>
          </a:xfrm>
          <a:custGeom>
            <a:avLst/>
            <a:gdLst/>
            <a:ahLst/>
            <a:cxnLst/>
            <a:rect r="r" b="b" t="t" l="l"/>
            <a:pathLst>
              <a:path h="4928751" w="4214082">
                <a:moveTo>
                  <a:pt x="0" y="0"/>
                </a:moveTo>
                <a:lnTo>
                  <a:pt x="4214082" y="0"/>
                </a:lnTo>
                <a:lnTo>
                  <a:pt x="4214082" y="4928752"/>
                </a:lnTo>
                <a:lnTo>
                  <a:pt x="0" y="4928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07383" y="1171258"/>
            <a:ext cx="11443992" cy="99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408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 two-stage approach balances early action with better accuracy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7372" y="4586724"/>
            <a:ext cx="5255956" cy="251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Uses enrollment-stage information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Flags risk earlier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Best for scalable interventions such as reminders, check-ins, or resource guidance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419" y="1101408"/>
            <a:ext cx="1074675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7372" y="2700589"/>
            <a:ext cx="3661460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STAGE 1 - ENROLLMENT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338" y="3246438"/>
            <a:ext cx="4153889" cy="4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Broad, lower-cost support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48009" y="4739124"/>
            <a:ext cx="5255956" cy="251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Adds actual academic-progress data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Improves prediction quality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Better for advising, case management, or more intensive intervention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48009" y="2852989"/>
            <a:ext cx="3855631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STAGE 2 - SEMESTER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25975" y="3398838"/>
            <a:ext cx="4153889" cy="4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Broad, lower-cost support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13964" y="8917305"/>
            <a:ext cx="8761861" cy="78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Start broad and early. Esc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 support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whe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 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ng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evi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 </a:t>
            </a:r>
          </a:p>
          <a:p>
            <a:pPr algn="ctr">
              <a:lnSpc>
                <a:spcPts val="3096"/>
              </a:lnSpc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bec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me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 a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vaila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b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</a:t>
            </a: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69115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12952" y="-960552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9"/>
                </a:lnTo>
                <a:lnTo>
                  <a:pt x="7315200" y="220850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519703" y="7919625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8"/>
                </a:lnTo>
                <a:lnTo>
                  <a:pt x="7315200" y="220850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46803" y="3093716"/>
            <a:ext cx="11772900" cy="5945314"/>
          </a:xfrm>
          <a:custGeom>
            <a:avLst/>
            <a:gdLst/>
            <a:ahLst/>
            <a:cxnLst/>
            <a:rect r="r" b="b" t="t" l="l"/>
            <a:pathLst>
              <a:path h="5945314" w="11772900">
                <a:moveTo>
                  <a:pt x="0" y="0"/>
                </a:moveTo>
                <a:lnTo>
                  <a:pt x="11772900" y="0"/>
                </a:lnTo>
                <a:lnTo>
                  <a:pt x="11772900" y="5945315"/>
                </a:lnTo>
                <a:lnTo>
                  <a:pt x="0" y="5945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79893" y="2507064"/>
            <a:ext cx="4258798" cy="625662"/>
            <a:chOff x="0" y="0"/>
            <a:chExt cx="276631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6312" cy="406400"/>
            </a:xfrm>
            <a:custGeom>
              <a:avLst/>
              <a:gdLst/>
              <a:ahLst/>
              <a:cxnLst/>
              <a:rect r="r" b="b" t="t" l="l"/>
              <a:pathLst>
                <a:path h="406400" w="2766312">
                  <a:moveTo>
                    <a:pt x="2563112" y="0"/>
                  </a:moveTo>
                  <a:cubicBezTo>
                    <a:pt x="2675337" y="0"/>
                    <a:pt x="2766312" y="90976"/>
                    <a:pt x="2766312" y="203200"/>
                  </a:cubicBezTo>
                  <a:cubicBezTo>
                    <a:pt x="2766312" y="315424"/>
                    <a:pt x="2675337" y="406400"/>
                    <a:pt x="25631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663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026768" y="2592074"/>
            <a:ext cx="4258798" cy="625662"/>
            <a:chOff x="0" y="0"/>
            <a:chExt cx="276631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6312" cy="406400"/>
            </a:xfrm>
            <a:custGeom>
              <a:avLst/>
              <a:gdLst/>
              <a:ahLst/>
              <a:cxnLst/>
              <a:rect r="r" b="b" t="t" l="l"/>
              <a:pathLst>
                <a:path h="406400" w="2766312">
                  <a:moveTo>
                    <a:pt x="2563112" y="0"/>
                  </a:moveTo>
                  <a:cubicBezTo>
                    <a:pt x="2675337" y="0"/>
                    <a:pt x="2766312" y="90976"/>
                    <a:pt x="2766312" y="203200"/>
                  </a:cubicBezTo>
                  <a:cubicBezTo>
                    <a:pt x="2766312" y="315424"/>
                    <a:pt x="2675337" y="406400"/>
                    <a:pt x="25631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663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555863" y="1040867"/>
            <a:ext cx="9176274" cy="99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408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Semester 1 improves both detection and targeting efficiency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0306" y="4567666"/>
            <a:ext cx="4487724" cy="251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72.2%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 of Dropout cases detected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52.6%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 precision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205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 correctly identified Dropout cases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185 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false alerts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217" y="1209857"/>
            <a:ext cx="114781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55785" y="2698094"/>
            <a:ext cx="3610777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22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ENROLLMENT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02661" y="2783103"/>
            <a:ext cx="3610777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22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SEMESTER 1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842" y="4795207"/>
            <a:ext cx="4487724" cy="251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 </a:t>
            </a: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77.5% 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of Dropout cases detected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69.8%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 precision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220 correctly identified Dropout cases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b="true" sz="2573" i="true">
                <a:solidFill>
                  <a:srgbClr val="4888AC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95</a:t>
            </a:r>
            <a:r>
              <a:rPr lang="en-US" b="true" sz="2573" i="true">
                <a:gradFill>
                  <a:gsLst>
                    <a:gs pos="0">
                      <a:srgbClr val="361B70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Raleway Bold Italics"/>
                <a:ea typeface="Raleway Bold Italics"/>
                <a:cs typeface="Raleway Bold Italics"/>
                <a:sym typeface="Raleway Bold Italics"/>
              </a:rPr>
              <a:t> false alerts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5069" y="6464046"/>
            <a:ext cx="3026106" cy="279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400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Compared with Enrollment, Semester 1 delivers:</a:t>
            </a:r>
          </a:p>
          <a:p>
            <a:pPr algn="l" marL="431802" indent="-215901" lvl="1">
              <a:lnSpc>
                <a:spcPts val="2580"/>
              </a:lnSpc>
              <a:buFont typeface="Arial"/>
              <a:buChar char="•"/>
            </a:pP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+15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mor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 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Dr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pout c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 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iden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ti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ed</a:t>
            </a:r>
          </a:p>
          <a:p>
            <a:pPr algn="l" marL="431802" indent="-215901" lvl="1">
              <a:lnSpc>
                <a:spcPts val="2580"/>
              </a:lnSpc>
              <a:buFont typeface="Arial"/>
              <a:buChar char="•"/>
            </a:pP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−15 m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ss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ro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u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 c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</a:t>
            </a:r>
          </a:p>
          <a:p>
            <a:pPr algn="l" marL="431802" indent="-215901" lvl="1">
              <a:lnSpc>
                <a:spcPts val="2580"/>
              </a:lnSpc>
              <a:buFont typeface="Arial"/>
              <a:buChar char="•"/>
            </a:pP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−90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lse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</a:t>
            </a:r>
            <a:r>
              <a:rPr lang="en-US" sz="20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55863" y="9229725"/>
            <a:ext cx="8781105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b="true" sz="20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Later academic data makes support decisions more precise without sacrificing recall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505090" y="6429334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098027" y="3629440"/>
            <a:ext cx="2606895" cy="2606895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24852" t="0" r="-24852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174735" y="3629440"/>
            <a:ext cx="2606895" cy="2606895"/>
            <a:chOff x="0" y="0"/>
            <a:chExt cx="14840029" cy="148400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6E9F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852" t="0" r="-248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66880" y="2590931"/>
            <a:ext cx="3269190" cy="751403"/>
            <a:chOff x="0" y="0"/>
            <a:chExt cx="1768157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36749" y="2507919"/>
            <a:ext cx="4321162" cy="751403"/>
            <a:chOff x="0" y="0"/>
            <a:chExt cx="233712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3712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7121">
                  <a:moveTo>
                    <a:pt x="2133921" y="0"/>
                  </a:moveTo>
                  <a:cubicBezTo>
                    <a:pt x="2246146" y="0"/>
                    <a:pt x="2337121" y="90976"/>
                    <a:pt x="2337121" y="203200"/>
                  </a:cubicBezTo>
                  <a:cubicBezTo>
                    <a:pt x="2337121" y="315424"/>
                    <a:pt x="2246146" y="406400"/>
                    <a:pt x="213392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3712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588491" y="7408204"/>
            <a:ext cx="6041304" cy="2537348"/>
          </a:xfrm>
          <a:custGeom>
            <a:avLst/>
            <a:gdLst/>
            <a:ahLst/>
            <a:cxnLst/>
            <a:rect r="r" b="b" t="t" l="l"/>
            <a:pathLst>
              <a:path h="2537348" w="6041304">
                <a:moveTo>
                  <a:pt x="0" y="0"/>
                </a:moveTo>
                <a:lnTo>
                  <a:pt x="6041304" y="0"/>
                </a:lnTo>
                <a:lnTo>
                  <a:pt x="6041304" y="2537348"/>
                </a:lnTo>
                <a:lnTo>
                  <a:pt x="0" y="25373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55096" y="688644"/>
            <a:ext cx="1377248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5400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strongest risk signals shift once academic progress becomes visible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6147" y="6287902"/>
            <a:ext cx="5042083" cy="419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Risk is driven more by background and entry-stage signals:</a:t>
            </a:r>
          </a:p>
          <a:p>
            <a:pPr algn="ctr">
              <a:lnSpc>
                <a:spcPts val="3319"/>
              </a:lnSpc>
            </a:pP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scholarship status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course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application mode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admission grade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age at enrollment</a:t>
            </a:r>
          </a:p>
          <a:p>
            <a:pPr algn="ctr">
              <a:lnSpc>
                <a:spcPts val="3319"/>
              </a:lnSpc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6253" y="751761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13439" y="2829092"/>
            <a:ext cx="2976071" cy="34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b="true" sz="2729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ENROLLMENT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25045" y="2754497"/>
            <a:ext cx="3506277" cy="3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3"/>
              </a:lnSpc>
            </a:pPr>
            <a:r>
              <a:rPr lang="en-US" b="true" sz="2729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AFTER SEMESTER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25045" y="6577879"/>
            <a:ext cx="4791613" cy="377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Academic progress becomes much more important: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-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units approved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Semester 1 grade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units enrolled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approval rate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completion gap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-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48505" y="6217230"/>
            <a:ext cx="109705" cy="23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"/>
              </a:lnSpc>
              <a:spcBef>
                <a:spcPct val="0"/>
              </a:spcBef>
            </a:pPr>
            <a:r>
              <a:rPr lang="en-US" sz="1359" spc="9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\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46628" y="7609667"/>
            <a:ext cx="4791613" cy="209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b="true" sz="2573" i="true">
                <a:solidFill>
                  <a:srgbClr val="36E9FD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Business implication: </a:t>
            </a:r>
            <a:r>
              <a:rPr lang="en-US" b="true" sz="2573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Enrollment is useful for early screening, b</a:t>
            </a:r>
            <a:r>
              <a:rPr lang="en-US" b="true" sz="2573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ut Semester 1 gives a clearer view of who may need stronger support.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50958" y="6078754"/>
            <a:ext cx="8029607" cy="5339689"/>
          </a:xfrm>
          <a:custGeom>
            <a:avLst/>
            <a:gdLst/>
            <a:ahLst/>
            <a:cxnLst/>
            <a:rect r="r" b="b" t="t" l="l"/>
            <a:pathLst>
              <a:path h="5339689" w="8029607">
                <a:moveTo>
                  <a:pt x="0" y="0"/>
                </a:moveTo>
                <a:lnTo>
                  <a:pt x="8029607" y="0"/>
                </a:lnTo>
                <a:lnTo>
                  <a:pt x="8029607" y="5339689"/>
                </a:lnTo>
                <a:lnTo>
                  <a:pt x="0" y="5339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328975" y="3194074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060869" y="1361290"/>
            <a:ext cx="1451412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Limited support capacity makes prioritization critical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4983" y="7794959"/>
            <a:ext cx="4418076" cy="209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With the same 89 intervention slots, Semester 1 identifies 15 more Dropout cases and uses the available capacity more efficiently.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352796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90082" y="7587544"/>
            <a:ext cx="5528829" cy="2322108"/>
          </a:xfrm>
          <a:custGeom>
            <a:avLst/>
            <a:gdLst/>
            <a:ahLst/>
            <a:cxnLst/>
            <a:rect r="r" b="b" t="t" l="l"/>
            <a:pathLst>
              <a:path h="2322108" w="5528829">
                <a:moveTo>
                  <a:pt x="0" y="0"/>
                </a:moveTo>
                <a:lnTo>
                  <a:pt x="5528829" y="0"/>
                </a:lnTo>
                <a:lnTo>
                  <a:pt x="5528829" y="2322109"/>
                </a:lnTo>
                <a:lnTo>
                  <a:pt x="0" y="2322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0267" y="3807741"/>
            <a:ext cx="11311929" cy="3563258"/>
          </a:xfrm>
          <a:custGeom>
            <a:avLst/>
            <a:gdLst/>
            <a:ahLst/>
            <a:cxnLst/>
            <a:rect r="r" b="b" t="t" l="l"/>
            <a:pathLst>
              <a:path h="3563258" w="11311929">
                <a:moveTo>
                  <a:pt x="0" y="0"/>
                </a:moveTo>
                <a:lnTo>
                  <a:pt x="11311928" y="0"/>
                </a:lnTo>
                <a:lnTo>
                  <a:pt x="11311928" y="3563258"/>
                </a:lnTo>
                <a:lnTo>
                  <a:pt x="0" y="3563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7699" y="4899533"/>
            <a:ext cx="1394983" cy="1394983"/>
          </a:xfrm>
          <a:custGeom>
            <a:avLst/>
            <a:gdLst/>
            <a:ahLst/>
            <a:cxnLst/>
            <a:rect r="r" b="b" t="t" l="l"/>
            <a:pathLst>
              <a:path h="1394983" w="1394983">
                <a:moveTo>
                  <a:pt x="0" y="0"/>
                </a:moveTo>
                <a:lnTo>
                  <a:pt x="1394983" y="0"/>
                </a:lnTo>
                <a:lnTo>
                  <a:pt x="1394983" y="1394983"/>
                </a:lnTo>
                <a:lnTo>
                  <a:pt x="0" y="13949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68669" y="4899533"/>
            <a:ext cx="1315177" cy="1315177"/>
          </a:xfrm>
          <a:custGeom>
            <a:avLst/>
            <a:gdLst/>
            <a:ahLst/>
            <a:cxnLst/>
            <a:rect r="r" b="b" t="t" l="l"/>
            <a:pathLst>
              <a:path h="1315177" w="1315177">
                <a:moveTo>
                  <a:pt x="0" y="0"/>
                </a:moveTo>
                <a:lnTo>
                  <a:pt x="1315176" y="0"/>
                </a:lnTo>
                <a:lnTo>
                  <a:pt x="1315176" y="1315177"/>
                </a:lnTo>
                <a:lnTo>
                  <a:pt x="0" y="1315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08585" y="4947091"/>
            <a:ext cx="1220061" cy="1220061"/>
          </a:xfrm>
          <a:custGeom>
            <a:avLst/>
            <a:gdLst/>
            <a:ahLst/>
            <a:cxnLst/>
            <a:rect r="r" b="b" t="t" l="l"/>
            <a:pathLst>
              <a:path h="1220061" w="1220061">
                <a:moveTo>
                  <a:pt x="0" y="0"/>
                </a:moveTo>
                <a:lnTo>
                  <a:pt x="1220062" y="0"/>
                </a:lnTo>
                <a:lnTo>
                  <a:pt x="1220062" y="1220061"/>
                </a:lnTo>
                <a:lnTo>
                  <a:pt x="0" y="1220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52647" y="4958523"/>
            <a:ext cx="1261694" cy="1261694"/>
          </a:xfrm>
          <a:custGeom>
            <a:avLst/>
            <a:gdLst/>
            <a:ahLst/>
            <a:cxnLst/>
            <a:rect r="r" b="b" t="t" l="l"/>
            <a:pathLst>
              <a:path h="1261694" w="1261694">
                <a:moveTo>
                  <a:pt x="0" y="0"/>
                </a:moveTo>
                <a:lnTo>
                  <a:pt x="1261694" y="0"/>
                </a:lnTo>
                <a:lnTo>
                  <a:pt x="1261694" y="1261694"/>
                </a:lnTo>
                <a:lnTo>
                  <a:pt x="0" y="12616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5096" y="1243463"/>
            <a:ext cx="12879986" cy="159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</a:pPr>
            <a:r>
              <a:rPr lang="en-US" sz="6397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 staged intervention model turns predictions into 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60996" y="3938439"/>
            <a:ext cx="2478048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SCREEN EARLY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28613" y="3805089"/>
            <a:ext cx="2478048" cy="55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MONITOR PROGRESS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6231" y="3988716"/>
            <a:ext cx="2478048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REFRESH RISK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4147" y="3855366"/>
            <a:ext cx="2478048" cy="55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ESCALATE SUPPORT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40267" y="6935807"/>
            <a:ext cx="2032416" cy="232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032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Use the Enrollment model to identify students who may benefit from broad support.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51430" y="6935807"/>
            <a:ext cx="2032416" cy="199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032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Track Semester 1 academic performance and engagement signals.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96231" y="6935807"/>
            <a:ext cx="2032416" cy="199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032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Re-score students after Semester 1 using stronger academic evidence.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04947" y="7101318"/>
            <a:ext cx="2032416" cy="199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032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Direct higher-touch interventions to students with the strongest risk signals.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75554" y="9658350"/>
            <a:ext cx="11159529" cy="97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032" i="true" b="true">
                <a:solidFill>
                  <a:srgbClr val="36E9FD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The model should support a tiered intervention process—not a one-time label.</a:t>
            </a:r>
          </a:p>
          <a:p>
            <a:pPr algn="l">
              <a:lnSpc>
                <a:spcPts val="2622"/>
              </a:lnSpc>
            </a:pPr>
          </a:p>
          <a:p>
            <a:pPr algn="l">
              <a:lnSpc>
                <a:spcPts val="262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7261507" y="679214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4226680" y="-605749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977419" y="3083473"/>
          <a:ext cx="5657850" cy="2514600"/>
        </p:xfrm>
        <a:graphic>
          <a:graphicData uri="http://schemas.openxmlformats.org/presentationml/2006/ole">
            <p:oleObj imgW="6781800" imgH="3644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3719294" y="3064423"/>
            <a:ext cx="3960129" cy="142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03" indent="-188902" lvl="1">
              <a:lnSpc>
                <a:spcPts val="2257"/>
              </a:lnSpc>
              <a:buFont typeface="Arial"/>
              <a:buChar char="•"/>
            </a:pPr>
            <a:r>
              <a:rPr lang="en-US" sz="174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Semester 1 reduces every observed gap</a:t>
            </a:r>
          </a:p>
          <a:p>
            <a:pPr algn="l" marL="377803" indent="-188902" lvl="1">
              <a:lnSpc>
                <a:spcPts val="2257"/>
              </a:lnSpc>
              <a:buFont typeface="Arial"/>
              <a:buChar char="•"/>
            </a:pPr>
            <a:r>
              <a:rPr lang="en-US" sz="174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meaningful disparities still remain</a:t>
            </a:r>
          </a:p>
          <a:p>
            <a:pPr algn="l" marL="377803" indent="-188902" lvl="1">
              <a:lnSpc>
                <a:spcPts val="2257"/>
              </a:lnSpc>
              <a:buFont typeface="Arial"/>
              <a:buChar char="•"/>
            </a:pPr>
            <a:r>
              <a:rPr lang="en-US" sz="174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age and scholarship status require the closest monitoring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9189" y="5333237"/>
            <a:ext cx="2918229" cy="6048144"/>
          </a:xfrm>
          <a:custGeom>
            <a:avLst/>
            <a:gdLst/>
            <a:ahLst/>
            <a:cxnLst/>
            <a:rect r="r" b="b" t="t" l="l"/>
            <a:pathLst>
              <a:path h="6048144" w="2918229">
                <a:moveTo>
                  <a:pt x="0" y="0"/>
                </a:moveTo>
                <a:lnTo>
                  <a:pt x="2918230" y="0"/>
                </a:lnTo>
                <a:lnTo>
                  <a:pt x="2918230" y="6048144"/>
                </a:lnTo>
                <a:lnTo>
                  <a:pt x="0" y="60481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9068" y="1405631"/>
            <a:ext cx="9176274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400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Responsible Use Requires Fairness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9945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420625" y="2122995"/>
            <a:ext cx="4258798" cy="625662"/>
            <a:chOff x="0" y="0"/>
            <a:chExt cx="2766312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6312" cy="406400"/>
            </a:xfrm>
            <a:custGeom>
              <a:avLst/>
              <a:gdLst/>
              <a:ahLst/>
              <a:cxnLst/>
              <a:rect r="r" b="b" t="t" l="l"/>
              <a:pathLst>
                <a:path h="406400" w="2766312">
                  <a:moveTo>
                    <a:pt x="2563112" y="0"/>
                  </a:moveTo>
                  <a:cubicBezTo>
                    <a:pt x="2675337" y="0"/>
                    <a:pt x="2766312" y="90976"/>
                    <a:pt x="2766312" y="203200"/>
                  </a:cubicBezTo>
                  <a:cubicBezTo>
                    <a:pt x="2766312" y="315424"/>
                    <a:pt x="2675337" y="406400"/>
                    <a:pt x="25631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663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19294" y="2325520"/>
            <a:ext cx="3661460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WHAT THIS MEANS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78751" y="8578850"/>
            <a:ext cx="1279005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79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model should never be used as an automatic decision-maker. Human review and subgroup monitoring are essential.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572293">
            <a:off x="3960635" y="-4668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4619" y="2559381"/>
            <a:ext cx="15738761" cy="7262212"/>
          </a:xfrm>
          <a:custGeom>
            <a:avLst/>
            <a:gdLst/>
            <a:ahLst/>
            <a:cxnLst/>
            <a:rect r="r" b="b" t="t" l="l"/>
            <a:pathLst>
              <a:path h="7262212" w="15738761">
                <a:moveTo>
                  <a:pt x="0" y="0"/>
                </a:moveTo>
                <a:lnTo>
                  <a:pt x="15738762" y="0"/>
                </a:lnTo>
                <a:lnTo>
                  <a:pt x="15738762" y="7262212"/>
                </a:lnTo>
                <a:lnTo>
                  <a:pt x="0" y="7262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4017" y="1073491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870" y="979702"/>
            <a:ext cx="17943755" cy="134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8"/>
              </a:lnSpc>
            </a:pPr>
            <a:r>
              <a:rPr lang="en-US" sz="5397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Business value should be measured through retention and intervention efficiency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56032" cy="10287000"/>
          </a:xfrm>
          <a:custGeom>
            <a:avLst/>
            <a:gdLst/>
            <a:ahLst/>
            <a:cxnLst/>
            <a:rect r="r" b="b" t="t" l="l"/>
            <a:pathLst>
              <a:path h="10287000" w="18556032">
                <a:moveTo>
                  <a:pt x="0" y="0"/>
                </a:moveTo>
                <a:lnTo>
                  <a:pt x="18556032" y="0"/>
                </a:lnTo>
                <a:lnTo>
                  <a:pt x="185560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DAHXWGsWSGU</dc:identifier>
  <dcterms:modified xsi:type="dcterms:W3CDTF">2011-08-01T06:04:30Z</dcterms:modified>
  <cp:revision>1</cp:revision>
  <dc:title>06B_Business_Presentation_Student_Attrition</dc:title>
</cp:coreProperties>
</file>